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Outfit"/>
      <p:regular r:id="rId17"/>
      <p:bold r:id="rId18"/>
    </p:embeddedFont>
    <p:embeddedFont>
      <p:font typeface="Outfit SemiBold"/>
      <p:regular r:id="rId19"/>
      <p:bold r:id="rId20"/>
    </p:embeddedFont>
    <p:embeddedFont>
      <p:font typeface="Outfit Medium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SemiBold-bold.fntdata"/><Relationship Id="rId11" Type="http://schemas.openxmlformats.org/officeDocument/2006/relationships/slide" Target="slides/slide6.xml"/><Relationship Id="rId22" Type="http://schemas.openxmlformats.org/officeDocument/2006/relationships/font" Target="fonts/OutfitMedium-bold.fntdata"/><Relationship Id="rId10" Type="http://schemas.openxmlformats.org/officeDocument/2006/relationships/slide" Target="slides/slide5.xml"/><Relationship Id="rId21" Type="http://schemas.openxmlformats.org/officeDocument/2006/relationships/font" Target="fonts/OutfitMedium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utfi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utfitSemiBold-regular.fntdata"/><Relationship Id="rId6" Type="http://schemas.openxmlformats.org/officeDocument/2006/relationships/slide" Target="slides/slide1.xml"/><Relationship Id="rId18" Type="http://schemas.openxmlformats.org/officeDocument/2006/relationships/font" Target="fonts/Outfi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1" Type="http://schemas.openxmlformats.org/officeDocument/2006/relationships/image" Target="../media/image6.png"/><Relationship Id="rId10" Type="http://schemas.openxmlformats.org/officeDocument/2006/relationships/image" Target="../media/image8.png"/><Relationship Id="rId12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4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7.jpg"/><Relationship Id="rId5" Type="http://schemas.openxmlformats.org/officeDocument/2006/relationships/image" Target="../media/image12.png"/><Relationship Id="rId6" Type="http://schemas.openxmlformats.org/officeDocument/2006/relationships/image" Target="../media/image26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1" Type="http://schemas.openxmlformats.org/officeDocument/2006/relationships/image" Target="../media/image20.png"/><Relationship Id="rId10" Type="http://schemas.openxmlformats.org/officeDocument/2006/relationships/image" Target="../media/image23.png"/><Relationship Id="rId12" Type="http://schemas.openxmlformats.org/officeDocument/2006/relationships/image" Target="../media/image18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40.png"/><Relationship Id="rId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31.png"/><Relationship Id="rId7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80385" y="1946969"/>
            <a:ext cx="9831228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Pipeline Híbrida para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Análise da Alfabetização</a:t>
            </a:r>
            <a:r>
              <a:rPr b="0" i="0" lang="en-US" sz="4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no Brasil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414462" y="3478410"/>
            <a:ext cx="9363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Indicador Criança Alfabetizada — Arquitetura Medalhão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14462" y="4446091"/>
            <a:ext cx="93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Luiz Guilherme </a:t>
            </a:r>
            <a:r>
              <a:rPr b="0" i="0" lang="en-US" sz="1350" u="none" cap="none" strike="noStrike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/ </a:t>
            </a:r>
            <a:r>
              <a:rPr lang="en-US" sz="1350">
                <a:solidFill>
                  <a:srgbClr val="64748B"/>
                </a:solidFill>
                <a:latin typeface="Outfit"/>
                <a:ea typeface="Outfit"/>
                <a:cs typeface="Outfit"/>
                <a:sym typeface="Outfit"/>
              </a:rPr>
              <a:t>Victor Bryan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12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52475" y="25288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19150" y="25288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alfabetização adequada das crianças até o final do 2º ano é uma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meta nacional prioritária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52475" y="32813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19150" y="328136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indicador define a proficiência com um ponto de corte exato de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743 pontos no sistema Saeb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52475" y="4033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19150" y="4033837"/>
            <a:ext cx="4991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Existe uma necessidade latente de integrar metas políticas, microdados acadêmicos e indicadores reais para embasar decisões e políticas públicas baseadas em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evidências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100262"/>
            <a:ext cx="51911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Problema de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Negócio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18419"/>
            <a:ext cx="3486150" cy="3735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18419"/>
            <a:ext cx="3486150" cy="3735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18419"/>
            <a:ext cx="3486150" cy="3735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2508944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428988" y="3604319"/>
            <a:ext cx="17902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Ingestão Híbrida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76300" y="4175819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Desenvolver uma combinação eficiente de processamentos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Batch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 </a:t>
            </a:r>
            <a:r>
              <a:rPr b="0" i="0" lang="en-US" sz="13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Streaming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 garantir a disponibilidade pontual dos dados.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508944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450919" y="3604319"/>
            <a:ext cx="129016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Tratamento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48200" y="4175819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Realizar limpeza, padronização e a integração confiável e escalável entre diversas bases de dados educacionais heterogêneas.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9275" y="2508944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897778" y="3604319"/>
            <a:ext cx="194024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Camada Analítica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20100" y="4175819"/>
            <a:ext cx="2895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Estruturação robusta, pronta para consultas analíticas rápidas, modelos de IA, com monitoramento proativo e controle estrito de custos.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95500" y="27089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38825" y="270896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9300" y="27089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Objetivos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Técnicos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581025" y="581025"/>
            <a:ext cx="554069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Arquitetura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Medalhão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81025" y="1295400"/>
            <a:ext cx="52768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81025" y="1695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fluxo de dados garante rastreabilidade total, governança e alta performance ponta a ponta: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81025" y="552256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fluxo de Streaming é simulado via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AWS Kinesis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Lambda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gravando os eventos diretamente na camada Bronze para processamento.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52475" y="24955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19150" y="2495550"/>
            <a:ext cx="5038725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Arquivos CSV oficiais e o dataset TS_ALUNO são ingeridos diretamente na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S3 Bronze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52475" y="322704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19150" y="322704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AWS Glue transforma e padroniza os arquivos, enviando para 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S3 Silver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em formato Parquet.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52475" y="395094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19150" y="395094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camada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S3 Gold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(Parquet) é consolidada com tabelas puramente analíticas pelo AWS Glue.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52475" y="467484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19150" y="467484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consumo dos indicadores ocorre via Amazon Athena, QuickSight ou algoritmos de 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76450"/>
            <a:ext cx="522922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76450"/>
            <a:ext cx="5229225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71550" y="246697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Outfit Medium"/>
                <a:ea typeface="Outfit Medium"/>
                <a:cs typeface="Outfit Medium"/>
                <a:sym typeface="Outfit Medium"/>
              </a:rPr>
              <a:t>Processamento Batch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71550" y="2990850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Focado na carga de dados estruturais como metas governamentais, cadastros de municípios e agregados com periodicidade fixa (anual ou semestral).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71550" y="440055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Esta abordagem é ideal para manter todo o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histórico das bases oficiais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preservado com o menor custo financeiro por volume de dados armazenado.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772275" y="246697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DD4BF"/>
                </a:solidFill>
                <a:latin typeface="Outfit Medium"/>
                <a:ea typeface="Outfit Medium"/>
                <a:cs typeface="Outfit Medium"/>
                <a:sym typeface="Outfit Medium"/>
              </a:rPr>
              <a:t>Processamento Streaming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Outfit Medium"/>
                <a:ea typeface="Outfit Medium"/>
                <a:cs typeface="Outfit Medium"/>
                <a:sym typeface="Outfit Medium"/>
              </a:rPr>
              <a:t>(Simulado)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72275" y="299085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Desenhado para atualizações rápidas de indicadores a partir de eventos de mudança, utilizando a arquitetura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AWS Kinesis + Lambda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772275" y="409575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Tem como foco principal atingir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baixa latência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disponibilidade, operando sob um modelo de custo estritamente variável otimizado.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Estratégia de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Ingestão Híbrida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140" r="140" t="0"/>
          <a:stretch/>
        </p:blipFill>
        <p:spPr>
          <a:xfrm>
            <a:off x="581025" y="2095500"/>
            <a:ext cx="3486150" cy="3782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95500"/>
            <a:ext cx="3486150" cy="3781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95500"/>
            <a:ext cx="3486150" cy="378127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28675" y="4248150"/>
            <a:ext cx="299085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Camada Bronze: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Armazena os dados brutos como ingestados (CSVs originais), garantindo a preservação imutável de todo o histórico da fonte.</a:t>
            </a:r>
            <a:endParaRPr/>
          </a:p>
        </p:txBody>
      </p:sp>
      <p:pic>
        <p:nvPicPr>
          <p:cNvPr descr="image.png" id="167" name="Google Shape;16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9675" y="2167600"/>
            <a:ext cx="3352650" cy="18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4600575" y="4248150"/>
            <a:ext cx="2990850" cy="1380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Camada Silver: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Realiza a limpeza, aplica padronização de tipos, gera a variável rede_descricao e calcula ativamente a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flag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 aprovação pelo corte de 743 pontos.</a:t>
            </a:r>
            <a:endParaRPr/>
          </a:p>
        </p:txBody>
      </p:sp>
      <p:pic>
        <p:nvPicPr>
          <p:cNvPr descr="image.png" id="169" name="Google Shape;16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1963" y="2211750"/>
            <a:ext cx="3271875" cy="178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8372475" y="4248150"/>
            <a:ext cx="29908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Camada Gold: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Consolida as tabelas analíticas para gerar o indicador definitivo por município, UF e total Brasil, além de uma visão pré-agregada dos microdados.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Zonas do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Lake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18432"/>
            <a:ext cx="3486150" cy="3535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18432"/>
            <a:ext cx="3486150" cy="3535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18432"/>
            <a:ext cx="3486150" cy="3535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251370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328975" y="3513832"/>
            <a:ext cx="199024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Qualidade de Dados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81050" y="4018657"/>
            <a:ext cx="3086100" cy="1249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Validações garantidas pelo script data_quality.py contra duplicidades de chave, limites de percentuais (0-100%), proficiência negativa e consistência lógica com o corte de 743 pontos.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51370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335905" y="3513832"/>
            <a:ext cx="152019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Monitoramento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552950" y="4018657"/>
            <a:ext cx="308610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Gestão de metadados completa, acompanhamento do status de todos os Jobs do AWS Glue, logs centralizados e parseados via CloudWatch e alertas sistêmicos configurados.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9275" y="251370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9117806" y="3513832"/>
            <a:ext cx="15001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Medium"/>
                <a:ea typeface="Outfit Medium"/>
                <a:cs typeface="Outfit Medium"/>
                <a:sym typeface="Outfit Medium"/>
              </a:rPr>
              <a:t>FinOps (Custos)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324850" y="4018657"/>
            <a:ext cx="308610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Arquivos CSV volumosos são retidos unicamente na Bronze. Silver e Gold utilizam compressão agressiva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Parquet + Snappy</a:t>
            </a:r>
            <a:r>
              <a:rPr b="0" i="0" lang="en-US" sz="12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com particionamento por ano para baratear queries no Athena.</a:t>
            </a:r>
            <a:endParaRPr/>
          </a:p>
        </p:txBody>
      </p:sp>
      <p:pic>
        <p:nvPicPr>
          <p:cNvPr descr="image.png" id="190" name="Google Shape;19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95500" y="271373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38825" y="271373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9300" y="271373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Governança: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Quality &amp; FinOps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0637" y="208121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737" y="2119312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553200" y="1390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619875" y="1390650"/>
            <a:ext cx="4991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Leakage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(vazamento temporal de dados entre as bases de treino e teste) é um risco extremo, capaz de inflar irrealisticamente as métricas de sucesso de qualquer modelo preditivo escolar.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553200" y="27527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619875" y="2752725"/>
            <a:ext cx="4991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Mitigação Primária: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Estabelecemos uma separação temporal estrita nos pipelines — o treino dos modelos deve utilizar dados apenas até o ano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isolando a validação para o ano letivo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N+1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553200" y="4114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619875" y="4114800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É proibida a geração de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features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que dependam matematicamente de eventos que ainda não ocorreram na linha do tempo avaliada.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553200" y="51720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19875" y="5172075"/>
            <a:ext cx="4991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Práticas ativas incluem: versionamento semântico de features analíticas, auditoria profunda das lógicas de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JOINs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 implementação de testes unitários automatizados contra vazamentos.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81025" y="2762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Risco Crítico para Modelos: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Leakage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12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752475" y="1223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19150" y="1223962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Nossa modelagem "Gold" habilita a </a:t>
            </a: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predição apurada da taxa de alfabetização por município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facilitando a identificação proativa de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gaps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no sistema educacional.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52475" y="22812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19150" y="2281237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Permite aplicar técnicas de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clustering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 agrupar escolas ou regiões por grau de vulnerabilidade social e pedagógica.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52475" y="33385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19150" y="3338512"/>
            <a:ext cx="49911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Próximos Passos (Roadmap):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52475" y="5948362"/>
            <a:ext cx="6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2100262"/>
            <a:ext cx="51911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990600" y="3738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057275" y="3738562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Enriquecer a base cruzando os dados atuais com a malha do IBGE e do Censo Escolar.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990600" y="43957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1057275" y="4395787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Automatizar o deploy via esteira de CI/CD (GitHub Actions/GitLab).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990600" y="50530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057275" y="5053012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Estruturação de Dashboards Executivos de alto nível no QuickSight.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81025" y="109537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Valor para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IA e Próximos Passos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81025" y="823912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1057275" y="1844129"/>
            <a:ext cx="10001250" cy="624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glue/jobs/silver_transform.py — Job de tratamento de dados e padronização severa (ex: correção do separador ';' exclusivo da base TS_ALUNO).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057275" y="2707034"/>
            <a:ext cx="1000125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glue/jobs/gold_transform.py — Script final para a criação das tabelas consolidadas analíticas, aplicando técnicas de particionamento dinâmico por ano.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057275" y="3562350"/>
            <a:ext cx="1000125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glue/jobs/data_quality.py — Pipeline de triagem que executa as validações exigidas de negócio (restrição de duplicidade, teto de percentuais e teste do corte 743).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057275" y="4417665"/>
            <a:ext cx="1000125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scripts/upload_to_bronze.py — Script auxiliar em Python para automação simplificada e upload em massa para os buckets da S3 Bronze.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057275" y="5272980"/>
            <a:ext cx="1000125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lambda/stream_producer.py / lambda/stream_consumer.py — Scripts Serverless centrais para simular e consumir eventos em streaming arquitetado.</a:t>
            </a:r>
            <a:endParaRPr/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77466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40372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59568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5100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306317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581025" y="581025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Apêndice: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Scripts Principais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581025" y="12954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1057275" y="1654671"/>
            <a:ext cx="10001250" cy="929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Aprovisionamento da Infraestrutura (IaC):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Execute terraform init seguido por terraform apply -var="bucket_name=tc-alfabetizacao-[seu-identificador]" para subir os recursos na AWS.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057275" y="2822376"/>
            <a:ext cx="10001250" cy="929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Ingestão Inicial (Mock):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Defina a origem com export INPUT_DIR=/caminho/arquivos e execute python scripts/upload_to_bronze.py.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1057275" y="3990082"/>
            <a:ext cx="10001250" cy="929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Start nas Esteiras de Processamento (AWS Glue):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Inicie os jobs exatamente nesta ordem lógica: 1º tc-silver-transform, 2º tc-data-quality, 3º tc-gold-transform.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057275" y="5157787"/>
            <a:ext cx="10001250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Ativação da Camada Analítica (Athena):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Execute sequencialmente os scripts DDL presentes em sql/athena/*.sql e rode o comando MSCK REPAIR TABLE para atualizar os metadados das partições inseridas via Glue.</a:t>
            </a:r>
            <a:endParaRPr/>
          </a:p>
        </p:txBody>
      </p:sp>
      <p:pic>
        <p:nvPicPr>
          <p:cNvPr descr="image.png" id="260" name="Google Shape;2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88008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85571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23419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191125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581025" y="540246"/>
            <a:ext cx="1158144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Apêndice: </a:t>
            </a:r>
            <a:r>
              <a:rPr b="0" i="0" lang="en-US" sz="3600" u="none" cap="none" strike="noStrik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Runbook Resumido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581025" y="1254621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